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57" r:id="rId6"/>
    <p:sldId id="258" r:id="rId7"/>
    <p:sldId id="259" r:id="rId8"/>
    <p:sldId id="260" r:id="rId9"/>
    <p:sldId id="263" r:id="rId10"/>
    <p:sldId id="264" r:id="rId11"/>
    <p:sldId id="265" r:id="rId12"/>
    <p:sldId id="271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0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Atiq Ur Rehman" userId="c215631ef6f316a8" providerId="LiveId" clId="{79E732CD-87FF-455F-999E-3FE8B373A284}"/>
    <pc:docChg chg="modSld">
      <pc:chgData name="Abdullah Atiq Ur Rehman" userId="c215631ef6f316a8" providerId="LiveId" clId="{79E732CD-87FF-455F-999E-3FE8B373A284}" dt="2026-06-21T08:05:47.229" v="238" actId="20577"/>
      <pc:docMkLst>
        <pc:docMk/>
      </pc:docMkLst>
      <pc:sldChg chg="modSp mod">
        <pc:chgData name="Abdullah Atiq Ur Rehman" userId="c215631ef6f316a8" providerId="LiveId" clId="{79E732CD-87FF-455F-999E-3FE8B373A284}" dt="2026-06-21T08:05:47.229" v="238" actId="20577"/>
        <pc:sldMkLst>
          <pc:docMk/>
          <pc:sldMk cId="69109196" sldId="258"/>
        </pc:sldMkLst>
        <pc:spChg chg="mod">
          <ac:chgData name="Abdullah Atiq Ur Rehman" userId="c215631ef6f316a8" providerId="LiveId" clId="{79E732CD-87FF-455F-999E-3FE8B373A284}" dt="2026-06-21T08:05:47.229" v="238" actId="20577"/>
          <ac:spMkLst>
            <pc:docMk/>
            <pc:sldMk cId="69109196" sldId="258"/>
            <ac:spMk id="9" creationId="{A50E5AF1-B6F1-1FEF-9BFB-1087EF2C1D7C}"/>
          </ac:spMkLst>
        </pc:spChg>
      </pc:sldChg>
      <pc:sldChg chg="modSp mod">
        <pc:chgData name="Abdullah Atiq Ur Rehman" userId="c215631ef6f316a8" providerId="LiveId" clId="{79E732CD-87FF-455F-999E-3FE8B373A284}" dt="2026-06-21T07:05:49.386" v="130" actId="20577"/>
        <pc:sldMkLst>
          <pc:docMk/>
          <pc:sldMk cId="1577309520" sldId="264"/>
        </pc:sldMkLst>
        <pc:spChg chg="mod">
          <ac:chgData name="Abdullah Atiq Ur Rehman" userId="c215631ef6f316a8" providerId="LiveId" clId="{79E732CD-87FF-455F-999E-3FE8B373A284}" dt="2026-06-21T07:05:49.386" v="130" actId="20577"/>
          <ac:spMkLst>
            <pc:docMk/>
            <pc:sldMk cId="1577309520" sldId="264"/>
            <ac:spMk id="6" creationId="{8572F1B3-BB1C-78CB-DAAD-7784CECAA38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4671835463865127E-2"/>
          <c:y val="0.17802145949620723"/>
          <c:w val="0.87808483073231924"/>
          <c:h val="0.473308735692560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1% - 20% </c:v>
                </c:pt>
                <c:pt idx="2">
                  <c:v>21% - 50% </c:v>
                </c:pt>
                <c:pt idx="3">
                  <c:v>50%+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26.5</c:v>
                </c:pt>
                <c:pt idx="2">
                  <c:v>-109.3</c:v>
                </c:pt>
                <c:pt idx="3">
                  <c:v>-89.44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4F-488F-8C56-CE48B5D4968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4718063"/>
        <c:axId val="34718543"/>
      </c:barChart>
      <c:catAx>
        <c:axId val="34718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18543"/>
        <c:crosses val="autoZero"/>
        <c:auto val="1"/>
        <c:lblAlgn val="ctr"/>
        <c:lblOffset val="100"/>
        <c:tickLblSkip val="1"/>
        <c:noMultiLvlLbl val="0"/>
      </c:catAx>
      <c:valAx>
        <c:axId val="34718543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1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Profits</a:t>
            </a:r>
          </a:p>
        </c:rich>
      </c:tx>
      <c:layout>
        <c:manualLayout>
          <c:xMode val="edge"/>
          <c:yMode val="edge"/>
          <c:x val="0.5829122752298096"/>
          <c:y val="2.60066626202756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4447959707231993E-2"/>
          <c:y val="0.22620799923986831"/>
          <c:w val="0.3744463880577702"/>
          <c:h val="0.635252665990083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303-4A5A-80EA-5986C5522D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303-4A5A-80EA-5986C5522D6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303-4A5A-80EA-5986C5522D68}"/>
              </c:ext>
            </c:extLst>
          </c:dPt>
          <c:dLbls>
            <c:dLbl>
              <c:idx val="0"/>
              <c:layout>
                <c:manualLayout>
                  <c:x val="0.11957004032984239"/>
                  <c:y val="-0.20805330096220556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303-4A5A-80EA-5986C5522D68}"/>
                </c:ext>
              </c:extLst>
            </c:dLbl>
            <c:dLbl>
              <c:idx val="1"/>
              <c:layout>
                <c:manualLayout>
                  <c:x val="0.1624926189097857"/>
                  <c:y val="0.21845596601031575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03-4A5A-80EA-5986C5522D68}"/>
                </c:ext>
              </c:extLst>
            </c:dLbl>
            <c:dLbl>
              <c:idx val="2"/>
              <c:layout>
                <c:manualLayout>
                  <c:x val="-3.3724883169955554E-2"/>
                  <c:y val="-0.43171059949657653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03-4A5A-80EA-5986C5522D68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18451.27</c:v>
                </c:pt>
                <c:pt idx="1">
                  <c:v>122490.8</c:v>
                </c:pt>
                <c:pt idx="2">
                  <c:v>145454.95000000001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3-4A5A-80EA-5986C5522D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2E0-4562-8BDD-2311A47D0C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2E0-4562-8BDD-2311A47D0C6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2E0-4562-8BDD-2311A47D0C6B}"/>
              </c:ext>
            </c:extLst>
          </c:dPt>
          <c:dLbls>
            <c:dLbl>
              <c:idx val="0"/>
              <c:layout>
                <c:manualLayout>
                  <c:x val="0.15329492349979795"/>
                  <c:y val="-0.14563731067354388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E0-4562-8BDD-2311A47D0C6B}"/>
                </c:ext>
              </c:extLst>
            </c:dLbl>
            <c:dLbl>
              <c:idx val="1"/>
              <c:layout>
                <c:manualLayout>
                  <c:x val="0.21154699442972116"/>
                  <c:y val="9.2342082220371033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E0-4562-8BDD-2311A47D0C6B}"/>
                </c:ext>
              </c:extLst>
            </c:dLbl>
            <c:dLbl>
              <c:idx val="2"/>
              <c:layout>
                <c:manualLayout>
                  <c:x val="-0.13183363420982622"/>
                  <c:y val="-0.17164397329381964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E0-4562-8BDD-2311A47D0C6B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; </c:separator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741999.8</c:v>
                </c:pt>
                <c:pt idx="1">
                  <c:v>719047.03</c:v>
                </c:pt>
                <c:pt idx="2">
                  <c:v>836154.03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E0-4562-8BDD-2311A47D0C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Tables</c:v>
                </c:pt>
                <c:pt idx="1">
                  <c:v>Bookcases</c:v>
                </c:pt>
                <c:pt idx="2">
                  <c:v>Supplies</c:v>
                </c:pt>
                <c:pt idx="3">
                  <c:v>Fasteners</c:v>
                </c:pt>
                <c:pt idx="4">
                  <c:v>Machines</c:v>
                </c:pt>
                <c:pt idx="5">
                  <c:v>Labels</c:v>
                </c:pt>
                <c:pt idx="6">
                  <c:v>Art</c:v>
                </c:pt>
                <c:pt idx="7">
                  <c:v>Envelopes</c:v>
                </c:pt>
                <c:pt idx="8">
                  <c:v>Furnishings</c:v>
                </c:pt>
                <c:pt idx="9">
                  <c:v>Appliances</c:v>
                </c:pt>
                <c:pt idx="10">
                  <c:v>Storage</c:v>
                </c:pt>
                <c:pt idx="11">
                  <c:v>Chairs</c:v>
                </c:pt>
                <c:pt idx="12">
                  <c:v>Binders</c:v>
                </c:pt>
                <c:pt idx="13">
                  <c:v>Paper</c:v>
                </c:pt>
                <c:pt idx="14">
                  <c:v>Accessories</c:v>
                </c:pt>
                <c:pt idx="15">
                  <c:v>Phones</c:v>
                </c:pt>
                <c:pt idx="16">
                  <c:v>Copiers</c:v>
                </c:pt>
              </c:strCache>
            </c:strRef>
          </c:cat>
          <c:val>
            <c:numRef>
              <c:f>Sheet1!$B$2:$B$18</c:f>
              <c:numCache>
                <c:formatCode>0.00</c:formatCode>
                <c:ptCount val="17"/>
                <c:pt idx="0">
                  <c:v>-17725.481099999994</c:v>
                </c:pt>
                <c:pt idx="1">
                  <c:v>-3472.5560000000014</c:v>
                </c:pt>
                <c:pt idx="2">
                  <c:v>-1189.099499999998</c:v>
                </c:pt>
                <c:pt idx="3">
                  <c:v>949.51819999999998</c:v>
                </c:pt>
                <c:pt idx="4">
                  <c:v>3384.7568999999999</c:v>
                </c:pt>
                <c:pt idx="5">
                  <c:v>5546.2539999999963</c:v>
                </c:pt>
                <c:pt idx="6">
                  <c:v>6527.7869999999939</c:v>
                </c:pt>
                <c:pt idx="7">
                  <c:v>6964.17669999999</c:v>
                </c:pt>
                <c:pt idx="8">
                  <c:v>13059.143599999989</c:v>
                </c:pt>
                <c:pt idx="9">
                  <c:v>18138.005400000013</c:v>
                </c:pt>
                <c:pt idx="10">
                  <c:v>21278.826399999987</c:v>
                </c:pt>
                <c:pt idx="11">
                  <c:v>26590.166300000037</c:v>
                </c:pt>
                <c:pt idx="12">
                  <c:v>30221.76330000009</c:v>
                </c:pt>
                <c:pt idx="13">
                  <c:v>34053.569300000127</c:v>
                </c:pt>
                <c:pt idx="14">
                  <c:v>41936.63569999997</c:v>
                </c:pt>
                <c:pt idx="15">
                  <c:v>44515.730599999973</c:v>
                </c:pt>
                <c:pt idx="16">
                  <c:v>55617.824900000036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0-4D00-8600-29CEC2260DE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4714223"/>
        <c:axId val="34704623"/>
      </c:barChart>
      <c:catAx>
        <c:axId val="347142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high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04623"/>
        <c:crosses val="autoZero"/>
        <c:auto val="1"/>
        <c:lblAlgn val="ctr"/>
        <c:lblOffset val="100"/>
        <c:noMultiLvlLbl val="0"/>
      </c:catAx>
      <c:valAx>
        <c:axId val="34704623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14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501239.89</c:v>
                </c:pt>
                <c:pt idx="1">
                  <c:v>678781.24</c:v>
                </c:pt>
                <c:pt idx="2">
                  <c:v>391721.91</c:v>
                </c:pt>
                <c:pt idx="3">
                  <c:v>725457.82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87-460B-A7E9-FD2FB1B66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39706.36</c:v>
                </c:pt>
                <c:pt idx="1">
                  <c:v>91522.78</c:v>
                </c:pt>
                <c:pt idx="2">
                  <c:v>46749.43</c:v>
                </c:pt>
                <c:pt idx="3">
                  <c:v>108418.45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87-460B-A7E9-FD2FB1B66F4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4762223"/>
        <c:axId val="34763183"/>
      </c:barChart>
      <c:catAx>
        <c:axId val="34762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63183"/>
        <c:crosses val="autoZero"/>
        <c:auto val="1"/>
        <c:lblAlgn val="ctr"/>
        <c:lblOffset val="100"/>
        <c:noMultiLvlLbl val="0"/>
      </c:catAx>
      <c:valAx>
        <c:axId val="3476318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476222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35000"/>
                <a:lumOff val="6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D9BE-98F9-A08C-70E4-076523B19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65323-CC3D-7ABE-76A5-B4CAFFE41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CB22-A63A-2747-73A9-5933AF12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8E65A-6061-040B-1201-A63CDEC8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99069-B841-A19C-8ADD-1D48CFF1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4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B727-0865-FAE8-9E7B-2D13A3EB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D6F2A-487D-DBA5-D4B8-D47202E79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73411-94E8-9C7B-A057-4C4547D9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8F92-F37F-B086-C03D-54F12736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4F93-0691-464F-C17A-95E4E00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5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95-AD49-667B-0D1A-665012557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C820-6404-18EC-A13B-AFA2632FF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68BBF-D4AE-D4CF-A142-B0263487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24B8A-B1BB-4244-BE12-979C1BE3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CB2A4-9E60-1631-E549-984F5BC7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1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8772-3739-1201-7465-727C9E4C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43D0-0C3A-1E16-C33E-E43D2C15D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DC42E-038C-B332-7D9A-C71D5B2D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9489F-869C-C4D2-CF3C-C260773A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24ED9-3610-37FD-CAC4-DB963537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ADDA8-AE84-6D32-7C9F-DF41EFEB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BE7D-A167-4ACC-D636-68E6D94F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F2EBF-B5C7-55C7-90EB-04BF1FA84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A0C93-AC8A-C023-065D-307590B3D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FD53C-F17A-91AA-D68A-4C8A66D5A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CB5FC-3688-51D0-2F6B-E64605D2A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E2885-A795-5012-CB15-92427DBC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9F42D-6AAF-9F8B-7185-438472DF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9C059-F184-AB19-D55B-2B9EE148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F36E-0AAB-F154-5CF4-6EF9E97B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825F1-C77F-681B-F0D7-2A58D9E4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509E0-CA27-F22C-02A2-4A42595BC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5F7CC-B01C-CCC4-192C-5416B620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3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33510-0A96-789A-1C29-3FCE889C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651AA-961B-AD50-346B-45E22D00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8B9F4-D35E-25E3-B546-44617604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6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46AB-A506-610E-B28B-343DB6D2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E5DE-51AC-6C74-A758-4F2409F6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6FC5B-4833-AC60-8114-7475D7361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AE14F-CD37-F581-6069-3995F53C6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2D7D-C78F-04B2-BADF-47D96138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9A23C-BEF1-9575-6A7B-1ACB708E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9727-708E-0DDA-D764-0AC0A2315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3FA84-1DE3-C1D1-1F02-70452CB72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35F6C-3DDC-4F8B-6079-63CBBEAAA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E51BF-B571-9A1E-5A2D-E0FF5373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D0DDA-1783-1275-60D0-B8226966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3BC88-D6BC-BF53-58ED-FF59CF37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0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BE7E-E567-C7BC-8F10-5420D9FE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7AA46-DF53-C200-A948-2FB55FCB2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B28E4-4957-DD77-4866-BA95CEF7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0137-73A1-331B-25C2-F26835DB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B4E9-46B1-4BC8-FFAC-A109D94F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4593E-ED69-5D94-E68C-A0CD51B25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108E0-0D4E-2A94-F073-350689264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4A124-C080-DF68-ED08-0066CFEE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1F834-F5A8-34B8-CC87-669CBB0F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4002-79A9-FE8B-22EF-B76A54E4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8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F7501-A935-1A79-1C05-DCDB22E1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9E75D-763C-F552-2B8A-726FD5E67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C268E-70D5-1D23-12EB-22CC6231C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8241A-A6A8-4FCC-8988-AED71912F84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6934D-926F-E517-9AD8-E9E77A785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661DE-4C6D-A788-6936-912734DA1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56B61-68DC-4C3D-86FB-1B0C20E9A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8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vivek468/superstore-dataset-fina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7A4C-D652-A38F-FFE2-DD6C3F30C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Super Store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18AC9-6D3D-A5AF-3015-36C429714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Abdullah Atiq Ur Rehman</a:t>
            </a:r>
          </a:p>
        </p:txBody>
      </p:sp>
    </p:spTree>
    <p:extLst>
      <p:ext uri="{BB962C8B-B14F-4D97-AF65-F5344CB8AC3E}">
        <p14:creationId xmlns:p14="http://schemas.microsoft.com/office/powerpoint/2010/main" val="208028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9C83-4C3A-AAB4-A59E-0AF140D1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Superstore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3632-56CF-947D-9DA6-D99A158F0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1800" dirty="0"/>
              <a:t>USA superstore dataset containing order history.</a:t>
            </a:r>
          </a:p>
          <a:p>
            <a:pPr fontAlgn="base"/>
            <a:r>
              <a:rPr lang="en-US" sz="1800" dirty="0"/>
              <a:t>Duration January 2014 - December 2017</a:t>
            </a:r>
          </a:p>
          <a:p>
            <a:pPr fontAlgn="base"/>
            <a:r>
              <a:rPr lang="en-US" sz="1800" dirty="0"/>
              <a:t>Covers orders placed by 793 customers </a:t>
            </a:r>
          </a:p>
          <a:p>
            <a:pPr fontAlgn="base"/>
            <a:r>
              <a:rPr lang="en-US" sz="1800" dirty="0"/>
              <a:t>Pool of 49 states in the USA (One state not included is Alaska)</a:t>
            </a:r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marL="0" indent="0" fontAlgn="base">
              <a:buNone/>
            </a:pPr>
            <a:r>
              <a:rPr lang="nb-NO" sz="1800" b="1" dirty="0"/>
              <a:t>Link to Dataset: </a:t>
            </a:r>
            <a:r>
              <a:rPr lang="nb-NO" sz="1800" u="sng" dirty="0">
                <a:hlinkClick r:id="rId2"/>
              </a:rPr>
              <a:t>Superstore Dataset</a:t>
            </a:r>
            <a:r>
              <a:rPr lang="nb-NO" sz="1800" dirty="0"/>
              <a:t> </a:t>
            </a:r>
            <a:endParaRPr lang="en-US" sz="1800" dirty="0"/>
          </a:p>
          <a:p>
            <a:pPr marL="0" indent="0" fontAlgn="base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94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DD59-C38D-1113-B9EA-047D1542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93C3-70C9-1125-596D-F240F364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Superstore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1F752-8AC9-BF81-2198-A36C3AF22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10000"/>
              </a:lnSpc>
            </a:pPr>
            <a:r>
              <a:rPr lang="en-US" sz="1900" dirty="0"/>
              <a:t>Data Source: Kaggle</a:t>
            </a:r>
            <a:endParaRPr lang="en-US" sz="1900" b="1" dirty="0"/>
          </a:p>
          <a:p>
            <a:pPr fontAlgn="base">
              <a:lnSpc>
                <a:spcPct val="110000"/>
              </a:lnSpc>
            </a:pPr>
            <a:r>
              <a:rPr lang="en-US" sz="1900" dirty="0"/>
              <a:t>Rows: About 10,000 rows</a:t>
            </a:r>
          </a:p>
          <a:p>
            <a:pPr fontAlgn="base">
              <a:lnSpc>
                <a:spcPct val="110000"/>
              </a:lnSpc>
            </a:pPr>
            <a:r>
              <a:rPr lang="en-US" sz="1900" dirty="0"/>
              <a:t>Columns: 21 columns</a:t>
            </a:r>
          </a:p>
          <a:p>
            <a:pPr lvl="1" fontAlgn="base">
              <a:lnSpc>
                <a:spcPct val="110000"/>
              </a:lnSpc>
            </a:pPr>
            <a:r>
              <a:rPr lang="en-US" sz="1900" dirty="0"/>
              <a:t>Major Columns: Order ID, Order Date, Ship Date, Ship Modes, Customer ID, Customer Name, Segments, Cities, States, Postal Codes, Regions, Product ID, Category, Sub-Category, Unit Price, Quantity, Discount and Profit</a:t>
            </a:r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  <a:p>
            <a:pPr marL="0" indent="0" fontAlgn="base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2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C806D-079E-A0CF-1E52-B696A97E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8" y="0"/>
            <a:ext cx="12022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8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2312-7079-2D8B-1528-E832B3E9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F055C-E4FB-BE25-9BDF-F2494D80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Q) Heavy Discounts destroy profitability</a:t>
            </a:r>
          </a:p>
          <a:p>
            <a:pPr marL="0" indent="0">
              <a:buNone/>
            </a:pPr>
            <a:r>
              <a:rPr lang="en-US" dirty="0"/>
              <a:t>Q) Furniture is barely profitable</a:t>
            </a:r>
          </a:p>
          <a:p>
            <a:pPr marL="0" indent="0">
              <a:buNone/>
            </a:pPr>
            <a:r>
              <a:rPr lang="en-US" dirty="0"/>
              <a:t>Q) Tables are losing money</a:t>
            </a:r>
          </a:p>
          <a:p>
            <a:pPr marL="0" indent="0">
              <a:buNone/>
            </a:pPr>
            <a:r>
              <a:rPr lang="en-US" dirty="0"/>
              <a:t>Q) Some states are destroying profits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7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50FC-F8C0-5C3E-7F6E-5CF22592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Q) Heavy Discounts destroy profitability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0E5AF1-B6F1-1FEF-9BFB-1087EF2C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Finding:-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So What:-</a:t>
            </a:r>
          </a:p>
          <a:p>
            <a:r>
              <a:rPr lang="en-US" sz="1800" dirty="0"/>
              <a:t>Revenue is rising, but Profit margins are being severely suppressed by specific product categories and states.</a:t>
            </a:r>
          </a:p>
          <a:p>
            <a:r>
              <a:rPr lang="en-US" sz="1800" dirty="0"/>
              <a:t> The company is paying the customer to buy products at more than 20% discount</a:t>
            </a:r>
          </a:p>
          <a:p>
            <a:pPr marL="0" indent="0">
              <a:buNone/>
            </a:pPr>
            <a:r>
              <a:rPr lang="en-US" sz="1800" dirty="0"/>
              <a:t>Recommendation:-</a:t>
            </a:r>
          </a:p>
          <a:p>
            <a:r>
              <a:rPr lang="en-US" sz="1800" dirty="0"/>
              <a:t>Limit discount rate to 20%</a:t>
            </a:r>
          </a:p>
          <a:p>
            <a:r>
              <a:rPr lang="en-US" sz="1800" dirty="0"/>
              <a:t>Require approval for a discount above 20 %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354738A-AB2F-7EB2-5569-152ED0AEC8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525137"/>
              </p:ext>
            </p:extLst>
          </p:nvPr>
        </p:nvGraphicFramePr>
        <p:xfrm>
          <a:off x="2170323" y="1437300"/>
          <a:ext cx="5794872" cy="268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10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553C-B984-3FF9-E738-7E6E63C3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B371-BFE5-47D9-9EA3-F14F0F15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Q) Furniture is barely profitable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20A82B-0FBE-2A0F-4176-CE4224923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573" y="150491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Finding:-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So What:-</a:t>
            </a:r>
          </a:p>
          <a:p>
            <a:r>
              <a:rPr lang="en-US" sz="1800" dirty="0"/>
              <a:t>Furniture contributes 32% of sales and only 6% of total profit</a:t>
            </a:r>
          </a:p>
          <a:p>
            <a:r>
              <a:rPr lang="en-US" sz="1800" dirty="0"/>
              <a:t>A huge amount of effort and inventory is generated, with almost no return.</a:t>
            </a:r>
          </a:p>
          <a:p>
            <a:pPr marL="0" indent="0">
              <a:buNone/>
            </a:pPr>
            <a:r>
              <a:rPr lang="en-US" sz="1800" dirty="0"/>
              <a:t>Recommendation:-</a:t>
            </a:r>
          </a:p>
          <a:p>
            <a:r>
              <a:rPr lang="en-US" sz="1800" dirty="0"/>
              <a:t>Re-pricing furniture</a:t>
            </a:r>
          </a:p>
          <a:p>
            <a:r>
              <a:rPr lang="en-US" sz="1800" dirty="0"/>
              <a:t>Reduce discounts 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2B049A1-7F6C-ECFF-5F5F-8429F471A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8192421"/>
              </p:ext>
            </p:extLst>
          </p:nvPr>
        </p:nvGraphicFramePr>
        <p:xfrm>
          <a:off x="6422835" y="1333042"/>
          <a:ext cx="4142342" cy="2313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64C5177-371F-1224-04CF-D0A1E86C6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165194"/>
              </p:ext>
            </p:extLst>
          </p:nvPr>
        </p:nvGraphicFramePr>
        <p:xfrm>
          <a:off x="2009031" y="1333042"/>
          <a:ext cx="4226516" cy="231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398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2A26-83DF-C52A-EE98-E0C3D370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Q) Tables are losing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B528-E05C-0FE3-B3B3-F24335CB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Finding:-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So What:-</a:t>
            </a:r>
          </a:p>
          <a:p>
            <a:r>
              <a:rPr lang="en-US" sz="1800" dirty="0"/>
              <a:t>Tables are the single biggest </a:t>
            </a:r>
          </a:p>
          <a:p>
            <a:pPr marL="0" indent="0">
              <a:buNone/>
            </a:pPr>
            <a:r>
              <a:rPr lang="en-US" sz="1800" dirty="0"/>
              <a:t>profit leak</a:t>
            </a:r>
          </a:p>
          <a:p>
            <a:r>
              <a:rPr lang="en-US" sz="1800" dirty="0"/>
              <a:t>Even if sales increase, losses may </a:t>
            </a:r>
          </a:p>
          <a:p>
            <a:pPr marL="0" indent="0">
              <a:buNone/>
            </a:pPr>
            <a:r>
              <a:rPr lang="en-US" sz="1800" dirty="0"/>
              <a:t>increase too.</a:t>
            </a:r>
          </a:p>
          <a:p>
            <a:pPr marL="0" indent="0">
              <a:buNone/>
            </a:pPr>
            <a:r>
              <a:rPr lang="en-US" sz="1800" dirty="0"/>
              <a:t>Recommendation:-</a:t>
            </a:r>
          </a:p>
          <a:p>
            <a:r>
              <a:rPr lang="en-US" sz="1800" dirty="0"/>
              <a:t> Bundle with profitable products</a:t>
            </a:r>
          </a:p>
          <a:p>
            <a:r>
              <a:rPr lang="en-US" sz="1800" dirty="0"/>
              <a:t>Increase pricing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5DBB593-9E47-6B7D-A4C8-223D29F69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7195168"/>
              </p:ext>
            </p:extLst>
          </p:nvPr>
        </p:nvGraphicFramePr>
        <p:xfrm>
          <a:off x="4318612" y="1399142"/>
          <a:ext cx="7755875" cy="5234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638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6BED-4F32-B9E3-00F8-6AEC4B1D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Q) Some states are destroying profits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48C68-AFB8-3ED8-6DF2-48B4286AE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Finding:- (Top 3 states) (States have profit less than 0)</a:t>
            </a:r>
          </a:p>
          <a:p>
            <a:r>
              <a:rPr lang="en-US" sz="1800" dirty="0"/>
              <a:t>Texas has a profit of -$25.7K</a:t>
            </a:r>
          </a:p>
          <a:p>
            <a:r>
              <a:rPr lang="en-US" sz="1800" dirty="0"/>
              <a:t>Ohio has a profit of -$16.9K</a:t>
            </a:r>
          </a:p>
          <a:p>
            <a:r>
              <a:rPr lang="en-US" sz="1800" dirty="0"/>
              <a:t>Pennsylvania has a profit of -$15.6K</a:t>
            </a:r>
          </a:p>
          <a:p>
            <a:pPr marL="0" indent="0">
              <a:buNone/>
            </a:pPr>
            <a:r>
              <a:rPr lang="en-US" sz="1800" dirty="0"/>
              <a:t>So What:-</a:t>
            </a:r>
          </a:p>
          <a:p>
            <a:r>
              <a:rPr lang="en-US" sz="1800" dirty="0"/>
              <a:t>These states are consuming </a:t>
            </a:r>
          </a:p>
          <a:p>
            <a:pPr marL="0" indent="0">
              <a:buNone/>
            </a:pPr>
            <a:r>
              <a:rPr lang="en-US" sz="1800" dirty="0"/>
              <a:t>profits generated elsewhere.</a:t>
            </a:r>
          </a:p>
          <a:p>
            <a:pPr marL="0" indent="0">
              <a:buNone/>
            </a:pPr>
            <a:r>
              <a:rPr lang="en-US" sz="1800" dirty="0"/>
              <a:t>Recommendation:-</a:t>
            </a:r>
          </a:p>
          <a:p>
            <a:r>
              <a:rPr lang="en-US" sz="1800" dirty="0"/>
              <a:t>Review regional pricing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E2AA1-1D5F-2CA9-E844-84C3B2C0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125" y="1624012"/>
            <a:ext cx="5988528" cy="401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9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7DCE-FD78-7E28-B77D-2672D1FE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Performance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2F1B3-BB1C-78CB-DAAD-7784CECAA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Insight:-</a:t>
            </a:r>
          </a:p>
          <a:p>
            <a:r>
              <a:rPr lang="en-US" dirty="0"/>
              <a:t>The West region is the strongest contributor to profit</a:t>
            </a:r>
          </a:p>
          <a:p>
            <a:r>
              <a:rPr lang="en-US" dirty="0"/>
              <a:t>Investigation needed on central performance because the revenue to profit is relatively lower than others.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D4D466B-1BE2-2AE3-9004-10CED62979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518794"/>
              </p:ext>
            </p:extLst>
          </p:nvPr>
        </p:nvGraphicFramePr>
        <p:xfrm>
          <a:off x="2307422" y="1435948"/>
          <a:ext cx="5856077" cy="3444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730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6054-1C34-DA24-65D6-DA80B2C4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Risk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ED3D-7EF0-425F-6D16-4917A8E69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19.4 % of orders are Loss-Making</a:t>
            </a:r>
          </a:p>
          <a:p>
            <a:r>
              <a:rPr lang="en-US" dirty="0"/>
              <a:t>Nearly 1 in 5 orders lose money</a:t>
            </a:r>
          </a:p>
          <a:p>
            <a:pPr marL="0" indent="0">
              <a:buNone/>
            </a:pPr>
            <a:r>
              <a:rPr lang="en-US" dirty="0"/>
              <a:t>Recommendation:-</a:t>
            </a:r>
          </a:p>
          <a:p>
            <a:r>
              <a:rPr lang="en-US" dirty="0"/>
              <a:t> Build an alert for orders with a discount above the threshold</a:t>
            </a:r>
          </a:p>
          <a:p>
            <a:r>
              <a:rPr lang="en-US" dirty="0"/>
              <a:t> Build an alert for an order with negative margins</a:t>
            </a:r>
          </a:p>
        </p:txBody>
      </p:sp>
    </p:spTree>
    <p:extLst>
      <p:ext uri="{BB962C8B-B14F-4D97-AF65-F5344CB8AC3E}">
        <p14:creationId xmlns:p14="http://schemas.microsoft.com/office/powerpoint/2010/main" val="185883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6C2F-4E9F-3D49-DB55-7558A25B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Finding:-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2FD9C-5372-B3A4-2A98-C76E0F396ADB}"/>
              </a:ext>
            </a:extLst>
          </p:cNvPr>
          <p:cNvSpPr txBox="1"/>
          <p:nvPr/>
        </p:nvSpPr>
        <p:spPr>
          <a:xfrm>
            <a:off x="694267" y="5604669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generated in each month of the year 2014 – 2017.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Feb is the month with the least sales, which is $240.8K, and the least profit is $10.2K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 is the month with the highest sales, which is $1.54M, and the highest profit is $43.3K because of festivals like Thanksgiving, Christmas and New Year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84EE73-EFEC-F570-9DDE-C3F71AF8D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82849"/>
            <a:ext cx="10515599" cy="412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5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9937-C12E-1799-B08F-12C3A1E2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62FA-AD70-C4C0-DE9C-2E455563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company does not have a sales problem- rather, it has a profitability management issue. Revenue is strong at $2.3M, but profit has worsened due to excessive discounting, underperforming states, and regional performance. So, by implementing the recommendations mentioned earlier, the realistic target would be a 10 to 20% profit improvement.</a:t>
            </a:r>
          </a:p>
          <a:p>
            <a:r>
              <a:rPr lang="en-US" dirty="0"/>
              <a:t>I would recommend the executive to monitor:-</a:t>
            </a:r>
          </a:p>
          <a:p>
            <a:pPr lvl="1"/>
            <a:r>
              <a:rPr lang="en-US" dirty="0"/>
              <a:t>Total Sales (Focus on Revenue)</a:t>
            </a:r>
          </a:p>
          <a:p>
            <a:pPr lvl="1"/>
            <a:r>
              <a:rPr lang="en-US" dirty="0"/>
              <a:t>Profit Margin % (Focus on Profit)</a:t>
            </a:r>
          </a:p>
          <a:p>
            <a:pPr lvl="1"/>
            <a:r>
              <a:rPr lang="en-US" dirty="0"/>
              <a:t>Profit by Region (Focus on Profit)</a:t>
            </a:r>
          </a:p>
          <a:p>
            <a:pPr lvl="1"/>
            <a:r>
              <a:rPr lang="en-US" dirty="0"/>
              <a:t>Sales by Segment (Focus on Customer)</a:t>
            </a:r>
          </a:p>
          <a:p>
            <a:pPr lvl="1"/>
            <a:r>
              <a:rPr lang="en-US" dirty="0"/>
              <a:t>Discount % </a:t>
            </a:r>
          </a:p>
          <a:p>
            <a:pPr lvl="1"/>
            <a:r>
              <a:rPr lang="en-US" dirty="0"/>
              <a:t>Average Profit </a:t>
            </a:r>
          </a:p>
        </p:txBody>
      </p:sp>
    </p:spTree>
    <p:extLst>
      <p:ext uri="{BB962C8B-B14F-4D97-AF65-F5344CB8AC3E}">
        <p14:creationId xmlns:p14="http://schemas.microsoft.com/office/powerpoint/2010/main" val="398171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606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Super Store Analysis</vt:lpstr>
      <vt:lpstr>Superstore Dataset</vt:lpstr>
      <vt:lpstr>Superstore Dataset</vt:lpstr>
      <vt:lpstr>PowerPoint Presentation</vt:lpstr>
      <vt:lpstr>Business problems:-</vt:lpstr>
      <vt:lpstr>Q) Heavy Discounts destroy profitability</vt:lpstr>
      <vt:lpstr>Q) Furniture is barely profitable</vt:lpstr>
      <vt:lpstr>Q) Tables are losing money</vt:lpstr>
      <vt:lpstr>Q) Some states are destroying profits</vt:lpstr>
      <vt:lpstr>Regional Performance</vt:lpstr>
      <vt:lpstr>Hidden Risk </vt:lpstr>
      <vt:lpstr>Useful Finding:-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Atiq Ur Rehman</dc:creator>
  <cp:lastModifiedBy>Abdullah Atiq Ur Rehman</cp:lastModifiedBy>
  <cp:revision>4</cp:revision>
  <dcterms:created xsi:type="dcterms:W3CDTF">2026-06-18T14:04:31Z</dcterms:created>
  <dcterms:modified xsi:type="dcterms:W3CDTF">2026-06-21T09:30:40Z</dcterms:modified>
</cp:coreProperties>
</file>